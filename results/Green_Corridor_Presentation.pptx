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Green Corridor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Ammonia Bunkering Optimization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MILP Model Analysis &amp; Results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Executive Summary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256032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Operational Scenarios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 cases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Feasible Solutions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270 total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Case 1 Optimal NPC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$153.5M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Best Case (Ulsan)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$94.9M (-38%)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Optimal Shuttle Size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2,500-5,000 m³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Case 1: Busan Port Storage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Storage-based bunkering at Busan Port (intra-port transfer)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Optimal Configuration: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447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Shuttle Size: 2,500 m³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7007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Pump Capacity: 2,000 m³/h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95681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NPC (20 years): $153.5M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128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Characteristics: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7249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Large storage tank (35,000 tons)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9809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2.0 hour intra-port travel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23697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Higher storage cost burden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Case 2-1: Yeosu Route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Long-distance shuttle route: Yeosu → Busan (86 nm)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Optimal Configuration: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447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Shuttle Size: 5,000 m³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7007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Pump Capacity: 2,000 m³/h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95681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NPC (20 years): $158.2M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128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Performance vs Case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7249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+3.1% more expensive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9809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Travel Time: 5.73 hours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23697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No storage cost (26% savings)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4930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Higher fuel consumption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A745"/>
                </a:solidFill>
              </a:rPr>
              <a:t>Case 2-2: Ulsan Route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498080" y="274320"/>
            <a:ext cx="1188720" cy="365760"/>
          </a:xfrm>
          <a:prstGeom prst="rect">
            <a:avLst/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OPTIMAL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Short-distance shuttle route: Ulsan → Busan (25 nm)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Optimal Configuration: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4447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Shuttle Size: 5,000 m³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007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Pump Capacity: 2,000 m³/h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95681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NPC (20 years): $94.9M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128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Performance vs Case 1: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7249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✓ -38.2% cost reduction (BEST OPTION)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9809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Travel Time: 1.67 hours (shortest)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23697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33% lower fuel consumption vs Yeosu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4930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Lowest total NPC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NPC Heatmaps: Shuttle Size vs Pump Flow Rate</a:t>
            </a:r>
            <a:endParaRPr lang="en-US" sz="3200" dirty="0"/>
          </a:p>
        </p:txBody>
      </p:sp>
      <p:pic>
        <p:nvPicPr>
          <p:cNvPr id="3" name="Image 0" descr="results\figures\01_npc_heatm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Top 10 Cost Breakdown by Component</a:t>
            </a:r>
            <a:endParaRPr lang="en-US" sz="3200" dirty="0"/>
          </a:p>
        </p:txBody>
      </p:sp>
      <p:pic>
        <p:nvPicPr>
          <p:cNvPr id="3" name="Image 0" descr="results\figures\02_top10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Case Comparison: NPC, Equipment, Cost</a:t>
            </a:r>
            <a:endParaRPr lang="en-US" sz="3200" dirty="0"/>
          </a:p>
        </p:txBody>
      </p:sp>
      <p:pic>
        <p:nvPicPr>
          <p:cNvPr id="3" name="Image 0" descr="results\figures\03_cas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NPC Distribution Analysis</a:t>
            </a:r>
            <a:endParaRPr lang="en-US" sz="3200" dirty="0"/>
          </a:p>
        </p:txBody>
      </p:sp>
      <p:pic>
        <p:nvPicPr>
          <p:cNvPr id="3" name="Image 0" descr="results\figures\04_npc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Sensitivity Analysis: Shuttle Size Impact</a:t>
            </a:r>
            <a:endParaRPr lang="en-US" sz="3200" dirty="0"/>
          </a:p>
        </p:txBody>
      </p:sp>
      <p:pic>
        <p:nvPicPr>
          <p:cNvPr id="3" name="Image 0" descr="results\figures\05_shuttle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5943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9601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Ulsan Route Optimal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207008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38.2% cost reduction vs Busan ($94.9M vs $153.5M)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7680960" cy="5943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Storage Tank Burden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892808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Tank CAPEX ($28.9M) limits Case 1 competitiveness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7680960" cy="5943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317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Equipment Sizing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578608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5,000 m³ shuttles optimal for long-distance routes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7680960" cy="5943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F4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0175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Distance Critical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264408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25 nm route reduces fuel by 33% vs 86 nm route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NPC Breakdown by Component (20-Year Horizon)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822960"/>
          <a:ext cx="7680960" cy="22860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 Component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Case 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Case 2-1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Case 2-2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Total NPC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$153.5M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$158.2M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$94.9M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Shuttle CAPEX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$24.8M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$24.1M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$24.1M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Bunkering CAPEX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$9.8M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$9.8M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$9.8M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Tank CAPEX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$28.9M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Total OPEX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$90.0M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$124.3M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$61.0M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Economic Analysis &amp; Equipment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Case 1 Initial Shuttles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0" y="1005840"/>
            <a:ext cx="201168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447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Case 2-1 Initial Shuttles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0" y="1444752"/>
            <a:ext cx="201168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836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Case 2-2 Initial Shuttles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883664"/>
            <a:ext cx="201168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22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Cost per Tonne (Case 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2322576"/>
            <a:ext cx="201168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~$45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7614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Cost per Tonne (Case 2-2)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761488"/>
            <a:ext cx="201168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788"/>
                </a:solidFill>
              </a:rPr>
              <a:t>~$28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Ulsan route fuel consumption 33% lower due to shorter distance (25 nm vs 86 nm)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A745"/>
                </a:solidFill>
              </a:rPr>
              <a:t>Strategic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1. Prioritize Ulsan Route: Deploy infrastructure toward Case 2-2 for 38% cost savings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2. Optimize Fleet: Use 5,000 m³ shuttles for long-distance, 2,500 m³ for storage-based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3. Reassess Storage: High tank CAPEX ($28.9M) limits Case 1 competitiveness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4. Phased Deployment: Start with 6-8 shuttles in 2030, grow 10% annually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Implementation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828800" cy="502920"/>
          </a:xfrm>
          <a:prstGeom prst="roundRect">
            <a:avLst/>
          </a:prstGeom>
          <a:solidFill>
            <a:srgbClr val="1F4788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87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2030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51760" y="914400"/>
            <a:ext cx="57607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9875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Foundation: 6-8 shuttles, 35 vessels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536192"/>
            <a:ext cx="1828800" cy="502920"/>
          </a:xfrm>
          <a:prstGeom prst="roundRect">
            <a:avLst/>
          </a:prstGeom>
          <a:solidFill>
            <a:srgbClr val="1F4788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093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2035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1536192"/>
            <a:ext cx="57607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60934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Growth: 10-12 shuttles, 100+ vessels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157984"/>
            <a:ext cx="1828800" cy="502920"/>
          </a:xfrm>
          <a:prstGeom prst="roundRect">
            <a:avLst/>
          </a:prstGeom>
          <a:solidFill>
            <a:srgbClr val="1F4788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311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2040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2157984"/>
            <a:ext cx="57607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2311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Scaling: Optimize efficiency, 200+ vessels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779776"/>
            <a:ext cx="1828800" cy="502920"/>
          </a:xfrm>
          <a:prstGeom prst="roundRect">
            <a:avLst/>
          </a:prstGeom>
          <a:solidFill>
            <a:srgbClr val="1F4788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852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2050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51760" y="2779776"/>
            <a:ext cx="576072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F4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8529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Maturity: 500 vessels, integrated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Methodology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788"/>
                </a:solidFill>
              </a:rPr>
              <a:t>Optimization Model: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91840" y="9144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MILP (Mixed-Integer Linear Programming)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788"/>
                </a:solidFill>
              </a:rPr>
              <a:t>Objective: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2344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Minimize total Net Present Cost across 2030-2050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788"/>
                </a:solidFill>
              </a:rPr>
              <a:t>Decision Variables: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5544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Fleet size, shuttle/pump specifications, bunkering cycles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788"/>
                </a:solidFill>
              </a:rPr>
              <a:t>Cost Components: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8745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CAPEX (vessels, equipment, storage), OPEX (fuel, maintenance, cooling)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788"/>
                </a:solidFill>
              </a:rPr>
              <a:t>Discount Rate: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7% annual for NPV calculations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788"/>
                </a:solidFill>
              </a:rPr>
              <a:t>Solver: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CBC (Coin-or Branch and Cut) via PuLP with &lt;0.1% optimality gap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A745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</a:rPr>
              <a:t>Ulsan Route (Case 2-2) is the Economically Optimal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2618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A745"/>
                </a:solidFill>
              </a:rPr>
              <a:t>Achieves $94.9M NPC over 20 years—38.2% cost reduction vs Busan storage scenario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361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" dirty="0"/>
          </a:p>
        </p:txBody>
      </p:sp>
      <p:sp>
        <p:nvSpPr>
          <p:cNvPr id="6" name="Text 4"/>
          <p:cNvSpPr/>
          <p:nvPr/>
        </p:nvSpPr>
        <p:spPr>
          <a:xfrm>
            <a:off x="914400" y="1810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Strategic Implications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0370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Development should focus on Ulsan infrastructure with 5,000 m³ shuttles and 2,000 m³/h pumps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4780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to serve Green Corridor vessels economically through 2050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523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" dirty="0"/>
          </a:p>
        </p:txBody>
      </p:sp>
      <p:sp>
        <p:nvSpPr>
          <p:cNvPr id="10" name="Text 8"/>
          <p:cNvSpPr/>
          <p:nvPr/>
        </p:nvSpPr>
        <p:spPr>
          <a:xfrm>
            <a:off x="914400" y="30266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41985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Proceed with detailed feasibility analysis for Ulsan infrastructure, port coordination, and phased fleet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Questions?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Green Corridor Ammonia Bunkering Optimization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Infrastructure Planning 2030-2050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Corridor Ammonia Bunkering Optimization</dc:title>
  <dc:subject>PptxGenJS Presentation</dc:subject>
  <dc:creator>Green Corridor Research Team</dc:creator>
  <cp:lastModifiedBy>Green Corridor Research Team</cp:lastModifiedBy>
  <cp:revision>1</cp:revision>
  <dcterms:created xsi:type="dcterms:W3CDTF">2025-11-17T09:45:54Z</dcterms:created>
  <dcterms:modified xsi:type="dcterms:W3CDTF">2025-11-17T09:45:54Z</dcterms:modified>
</cp:coreProperties>
</file>